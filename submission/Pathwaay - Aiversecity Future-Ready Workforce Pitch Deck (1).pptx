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Plus Jakarta Sans"/>
      <ns0:bold ns1:id="rIdFont17"/>
      <ns0:regular ns1:id="rIdFont18"/>
    </ns0:embeddedFont>
    <ns0:embeddedFont>
      <ns0:font typeface="JetBrains Mono"/>
      <ns0:bold ns1:id="rIdFont19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3536eb74-ac70-473d-8664-2ee766236382.fntdata" /><ns0:Relationship Id="rIdFont18" Type="http://schemas.openxmlformats.org/officeDocument/2006/relationships/font" Target="fonts/a46661d3-038b-4aa5-ba46-6fa99931f13f.fntdata" /><ns0:Relationship Id="rIdFont19" Type="http://schemas.openxmlformats.org/officeDocument/2006/relationships/font" Target="fonts/011449ae-02e4-4d78-9249-d48268c0c9a1.fntdata" /><ns0:Relationship Id="rIdFont20" Type="http://schemas.openxmlformats.org/officeDocument/2006/relationships/font" Target="fonts/46b9d8ff-cd8a-45c6-9287-061aa99289ef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5895975"/>
            <a:ext cx="10820400" cy="428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5895975"/>
            <a:ext cx="10820400" cy="9525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533400"/>
            <a:ext cx="400050" cy="400050"/>
          </a:xfrm>
          <a:prstGeom prst="roundRect">
            <a:avLst>
              <a:gd name="adj" fmla="val 23809"/>
            </a:avLst>
          </a:prstGeom>
          <a:solidFill>
            <a:srgbClr val="1E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63000" y="647700"/>
            <a:ext cx="3429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A7F3D0"/>
                </a:solidFill>
                <a:latin typeface="JetBrains Mono"/>
              </a:rPr>
              <a:t>DOMAIN 1 · AIVERSECITY WORKFORCE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6101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4D399"/>
                </a:solidFill>
                <a:latin typeface="JetBrains Mono"/>
              </a:rPr>
              <a:t>● AI-POWERED CAREER &amp; SDG 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27101"/>
            <a:ext cx="9701212" cy="1340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FFFFFF"/>
                </a:solidFill>
                <a:latin typeface="Plus Jakarta Sans"/>
              </a:rPr>
              <a:t>A clear starting point for what comes next.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96642"/>
            <a:ext cx="75247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CBD5E1"/>
                </a:solidFill>
                <a:latin typeface="Plus Jakarta Sans"/>
              </a:rPr>
              <a:t>Evidence-backed skill forecasting, explainable future-role matching, and SDG-aligned reskilling pathways for tomorrow's talent.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134100"/>
            <a:ext cx="54649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JetBrains Mono"/>
              </a:rPr>
              <a:t>TEAM 3AM · github.com/weiiilunnnn/3am-sdc-hackathon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8650" y="6134100"/>
            <a:ext cx="39433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4D399"/>
                </a:solidFill>
                <a:latin typeface="JetBrains Mono"/>
              </a:rPr>
              <a:t>MAIN SDG 4 · RELEVANT SDGS 5, 8, 9,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925" y="533400"/>
            <a:ext cx="6858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650" i="0" u="none">
                <a:solidFill>
                  <a:srgbClr val="FFFFFF"/>
                </a:solidFill>
                <a:latin typeface="Plus Jakarta Sans"/>
              </a:rPr>
              <a:t>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600075"/>
            <a:ext cx="12954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Plus Jakarta Sans"/>
              </a:rPr>
              <a:t>Pathwaay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8400" y="647700"/>
            <a:ext cx="169664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4D399"/>
                </a:solidFill>
                <a:latin typeface="JetBrains Mono"/>
              </a:rPr>
              <a:t>CAREER EXPLORER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6E49"/>
                </a:solidFill>
                <a:latin typeface="JetBrains Mono"/>
              </a:rPr>
              <a:t>01 · THE WORKFORCE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71711"/>
                </a:solidFill>
                <a:latin typeface="Plus Jakarta Sans"/>
              </a:rPr>
              <a:t>AI Outpaces Static Training Frameworks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381250"/>
            <a:ext cx="4254437" cy="800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b="1" sz="6300" i="0" u="none">
                <a:solidFill>
                  <a:srgbClr val="0F6E49"/>
                </a:solidFill>
                <a:latin typeface="Plus Jakarta Sans"/>
              </a:rPr>
              <a:t>56%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295650"/>
            <a:ext cx="4254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71711"/>
                </a:solidFill>
                <a:latin typeface="Plus Jakarta Sans"/>
              </a:rPr>
              <a:t>Use AI Tools Daily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571875"/>
            <a:ext cx="42544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Malaysian professionals active on 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4150" y="2381250"/>
            <a:ext cx="4254437" cy="800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b="1" sz="6300" i="0" u="none">
                <a:solidFill>
                  <a:srgbClr val="0F172A"/>
                </a:solidFill>
                <a:latin typeface="Plus Jakarta Sans"/>
              </a:rPr>
              <a:t>26%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94150" y="3295650"/>
            <a:ext cx="4254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71711"/>
                </a:solidFill>
                <a:latin typeface="Plus Jakarta Sans"/>
              </a:rPr>
              <a:t>Formally Trained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4150" y="3571875"/>
            <a:ext cx="42544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Hays Asia Salary Guide 2025 benchmark.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78700" y="2381250"/>
            <a:ext cx="4013299" cy="800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b="1" sz="6300" i="0" u="none">
                <a:solidFill>
                  <a:srgbClr val="071711"/>
                </a:solidFill>
                <a:latin typeface="Plus Jakarta Sans"/>
              </a:rPr>
              <a:t>600K+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78700" y="3295650"/>
            <a:ext cx="401329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71711"/>
                </a:solidFill>
                <a:latin typeface="Plus Jakarta Sans"/>
              </a:rPr>
              <a:t>Workers Need Reskilling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8700" y="3571875"/>
            <a:ext cx="401329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MOSTI 3-to-5 year national projection.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648200"/>
            <a:ext cx="453396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71711"/>
                </a:solidFill>
                <a:latin typeface="Plus Jakarta Sans"/>
              </a:rPr>
              <a:t>Obsolete Static Lists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943475"/>
            <a:ext cx="43180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Course catalogs lag behind real job signals.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8849" y="4648200"/>
            <a:ext cx="453396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71711"/>
                </a:solidFill>
                <a:latin typeface="Plus Jakarta Sans"/>
              </a:rPr>
              <a:t>Blind Skill Selection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8849" y="4943475"/>
            <a:ext cx="354969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Graduates guess which AI competencies matter.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99" y="4648200"/>
            <a:ext cx="40639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71711"/>
                </a:solidFill>
                <a:latin typeface="Plus Jakarta Sans"/>
              </a:rPr>
              <a:t>Invisible SDG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99" y="4943475"/>
            <a:ext cx="40639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Career choices lack sustainability visibility.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2259062"/>
            <a:ext cx="5153917" cy="3244601"/>
          </a:xfrm>
          <a:prstGeom prst="roundRect">
            <a:avLst>
              <a:gd name="adj" fmla="val 4697"/>
            </a:avLst>
          </a:prstGeom>
          <a:solidFill>
            <a:srgbClr val="07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2500" y="4808339"/>
            <a:ext cx="4468117" cy="3524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52500" y="4808339"/>
            <a:ext cx="4468117" cy="9525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717" y="2528887"/>
            <a:ext cx="180975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0717" y="3281362"/>
            <a:ext cx="209550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0717" y="4033837"/>
            <a:ext cx="26670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0717" y="4786312"/>
            <a:ext cx="20955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6E49"/>
                </a:solidFill>
                <a:latin typeface="JetBrains Mono"/>
              </a:rPr>
              <a:t>02 · TARGET USERS &amp; PERSONA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71711"/>
                </a:solidFill>
                <a:latin typeface="Plus Jakarta Sans"/>
              </a:rPr>
              <a:t>Built for People Navigating Career Inflection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2601962"/>
            <a:ext cx="558514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4D399"/>
                </a:solidFill>
                <a:latin typeface="JetBrains Mono"/>
              </a:rPr>
              <a:t>● DEMO PERSONA SPOTLIGHT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2887712"/>
            <a:ext cx="5864404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Plus Jakarta Sans"/>
              </a:rPr>
              <a:t>Alan Tan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3344912"/>
            <a:ext cx="558514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A7F3D0"/>
                </a:solidFill>
                <a:latin typeface="Plus Jakarta Sans"/>
              </a:rPr>
              <a:t>Information Systems · Aiversecity Demo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3792587"/>
            <a:ext cx="4563367" cy="787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b="0" sz="1425" i="0" u="none">
                <a:solidFill>
                  <a:srgbClr val="E2E8F0"/>
                </a:solidFill>
                <a:latin typeface="Plus Jakarta Sans"/>
              </a:rPr>
              <a:t>Builds clear data summaries and seeks evidence-based career directions supporting sustainable team decisions.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4970264"/>
            <a:ext cx="558514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4D399"/>
                </a:solidFill>
                <a:latin typeface="JetBrains Mono"/>
              </a:rPr>
              <a:t>GOAL: Data-informed sustainability 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0717" y="2490787"/>
            <a:ext cx="5971282" cy="266700"/>
          </a:xfrm>
          <a:prstGeom prst="rect">
            <a:avLst/>
          </a:prstGeom>
          <a:noFill/>
        </p:spPr>
        <p:txBody>
          <a:bodyPr wrap="none" lIns="276225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71711"/>
                </a:solidFill>
                <a:latin typeface="Plus Jakarta Sans"/>
              </a:rPr>
              <a:t>Fresh Graduates &amp; Switchers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0717" y="2795587"/>
            <a:ext cx="597128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Translating academic projects into verified market skills.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0717" y="3243262"/>
            <a:ext cx="5971282" cy="266700"/>
          </a:xfrm>
          <a:prstGeom prst="rect">
            <a:avLst/>
          </a:prstGeom>
          <a:noFill/>
        </p:spPr>
        <p:txBody>
          <a:bodyPr wrap="none" lIns="30480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71711"/>
                </a:solidFill>
                <a:latin typeface="Plus Jakarta Sans"/>
              </a:rPr>
              <a:t>Working Adults at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0717" y="3548062"/>
            <a:ext cx="597128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Pivoting away from automating routine tasks early.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0717" y="3995737"/>
            <a:ext cx="5971282" cy="266700"/>
          </a:xfrm>
          <a:prstGeom prst="rect">
            <a:avLst/>
          </a:prstGeom>
          <a:noFill/>
        </p:spPr>
        <p:txBody>
          <a:bodyPr wrap="none" lIns="36195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71711"/>
                </a:solidFill>
                <a:latin typeface="Plus Jakarta Sans"/>
              </a:rPr>
              <a:t>HR &amp; L&amp;D Managers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0717" y="4300537"/>
            <a:ext cx="597128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Mapping team skill gaps to HRD Corp programmes.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0717" y="4748212"/>
            <a:ext cx="5971282" cy="266700"/>
          </a:xfrm>
          <a:prstGeom prst="rect">
            <a:avLst/>
          </a:prstGeom>
          <a:noFill/>
        </p:spPr>
        <p:txBody>
          <a:bodyPr wrap="none" lIns="30480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71711"/>
                </a:solidFill>
                <a:latin typeface="Plus Jakarta Sans"/>
              </a:rPr>
              <a:t>TVET &amp; University Centres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0717" y="5053012"/>
            <a:ext cx="597128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Advising students with live labour-market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547812"/>
            <a:ext cx="6823323" cy="4667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1662112"/>
            <a:ext cx="6594723" cy="4438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6E49"/>
                </a:solidFill>
                <a:latin typeface="JetBrains Mono"/>
              </a:rPr>
              <a:t>03 · MEET PATHWAAY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71711"/>
                </a:solidFill>
                <a:latin typeface="Plus Jakarta Sans"/>
              </a:rPr>
              <a:t>Live Workspace From Profile Intake to Role 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3923" y="2257425"/>
            <a:ext cx="437807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6E49"/>
                </a:solidFill>
                <a:latin typeface="JetBrains Mono"/>
              </a:rPr>
              <a:t>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3923" y="2466975"/>
            <a:ext cx="437807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71711"/>
                </a:solidFill>
                <a:latin typeface="Plus Jakarta Sans"/>
              </a:rPr>
              <a:t>My Profile &amp; CV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3923" y="2762250"/>
            <a:ext cx="3863726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Session-safe skill extraction without storing private PII.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3923" y="3409950"/>
            <a:ext cx="437807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6E49"/>
                </a:solidFill>
                <a:latin typeface="JetBrains Mono"/>
              </a:rPr>
              <a:t>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3923" y="3619500"/>
            <a:ext cx="437807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71711"/>
                </a:solidFill>
                <a:latin typeface="Plus Jakarta Sans"/>
              </a:rPr>
              <a:t>My Skills Outlook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3923" y="3914775"/>
            <a:ext cx="3863726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Rising vs declining role radar under AI scenarios.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3923" y="4562475"/>
            <a:ext cx="437807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6E49"/>
                </a:solidFill>
                <a:latin typeface="JetBrains Mono"/>
              </a:rPr>
              <a:t>MODULE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3923" y="4772025"/>
            <a:ext cx="437807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71711"/>
                </a:solidFill>
                <a:latin typeface="Plus Jakarta Sans"/>
              </a:rPr>
              <a:t>Source Evidence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3923" y="5067300"/>
            <a:ext cx="3863726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Every recommendation cites dated public trend signals.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2881312"/>
            <a:ext cx="2571750" cy="1781175"/>
          </a:xfrm>
          <a:prstGeom prst="roundRect">
            <a:avLst>
              <a:gd name="adj" fmla="val 7486"/>
            </a:avLst>
          </a:prstGeom>
          <a:solidFill>
            <a:srgbClr val="F4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09950" y="2881312"/>
            <a:ext cx="2571750" cy="1781175"/>
          </a:xfrm>
          <a:prstGeom prst="roundRect">
            <a:avLst>
              <a:gd name="adj" fmla="val 7486"/>
            </a:avLst>
          </a:prstGeom>
          <a:solidFill>
            <a:srgbClr val="F4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2881312"/>
            <a:ext cx="2571750" cy="1781175"/>
          </a:xfrm>
          <a:prstGeom prst="roundRect">
            <a:avLst>
              <a:gd name="adj" fmla="val 7486"/>
            </a:avLst>
          </a:prstGeom>
          <a:solidFill>
            <a:srgbClr val="F4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10650" y="2881312"/>
            <a:ext cx="2571750" cy="2000250"/>
          </a:xfrm>
          <a:prstGeom prst="roundRect">
            <a:avLst>
              <a:gd name="adj" fmla="val 6666"/>
            </a:avLst>
          </a:prstGeom>
          <a:solidFill>
            <a:srgbClr val="F4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6E49"/>
                </a:solidFill>
                <a:latin typeface="JetBrains Mono"/>
              </a:rPr>
              <a:t>04 · USER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71711"/>
                </a:solidFill>
                <a:latin typeface="Plus Jakarta Sans"/>
              </a:rPr>
              <a:t>From Current Skills to AI-Era Career Pathways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148012"/>
            <a:ext cx="2643187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6E49"/>
                </a:solidFill>
                <a:latin typeface="JetBrains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614737"/>
            <a:ext cx="27753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71711"/>
                </a:solidFill>
                <a:latin typeface="Plus Jakarta Sans"/>
              </a:rPr>
              <a:t>Profile Intake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957637"/>
            <a:ext cx="2209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Parse skills via CV Studio or guided intake.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8550" y="3148012"/>
            <a:ext cx="2643187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6E49"/>
                </a:solidFill>
                <a:latin typeface="JetBrains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8550" y="3614737"/>
            <a:ext cx="27753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71711"/>
                </a:solidFill>
                <a:latin typeface="Plus Jakarta Sans"/>
              </a:rPr>
              <a:t>Skills Radar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957637"/>
            <a:ext cx="2209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Track emerging and declining market signals.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3148012"/>
            <a:ext cx="2643187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6E49"/>
                </a:solidFill>
                <a:latin typeface="JetBrains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3614737"/>
            <a:ext cx="27753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71711"/>
                </a:solidFill>
                <a:latin typeface="Plus Jakarta Sans"/>
              </a:rPr>
              <a:t>Role Matching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3957637"/>
            <a:ext cx="2209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Rank best-fit roles with transparent gap scores.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0" y="3148012"/>
            <a:ext cx="2643187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6E49"/>
                </a:solidFill>
                <a:latin typeface="JetBrains Mon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0" y="3614737"/>
            <a:ext cx="27753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71711"/>
                </a:solidFill>
                <a:latin typeface="Plus Jakarta Sans"/>
              </a:rPr>
              <a:t>SDG Pathway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250" y="3957637"/>
            <a:ext cx="22098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Follow time-boxed courses linked to UN SDGs.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6E49"/>
                </a:solidFill>
                <a:latin typeface="JetBrains Mono"/>
              </a:rPr>
              <a:t>05 · DYNAMIC SIGNAL LAYER &amp;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71711"/>
                </a:solidFill>
                <a:latin typeface="Plus Jakarta Sans"/>
              </a:rPr>
              <a:t>Scenario-Based Skill Demand Forecast (2025–2030)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2071687"/>
            <a:ext cx="10972800" cy="3581400"/>
          </a:xfrm>
          <a:prstGeom prst="roundRect">
            <a:avLst>
              <a:gd name="adj" fmla="val 0"/>
            </a:avLst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2071687"/>
          <a:ext cx="10972799" cy="35814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973437"/>
                <a:gridCol w="2856755"/>
                <a:gridCol w="5142607"/>
              </a:tblGrid>
              <a:tr h="511628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JetBrains Mono"/>
                        </a:rPr>
                        <a:t>MUST-HAVE FEATURE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71A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JetBrains Mono"/>
                        </a:rPr>
                        <a:t>PATHWAAY MODULE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71A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JetBrains Mono"/>
                        </a:rPr>
                        <a:t>VERIFIABLE IMPLEMENTATION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71A12"/>
                    </a:solidFill>
                  </a:tcPr>
                </a:tc>
              </a:tr>
              <a:tr h="511628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71711"/>
                          </a:solidFill>
                          <a:latin typeface="Plus Jakarta Sans"/>
                        </a:rPr>
                        <a:t>1. Skills Profile Intake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6E49"/>
                          </a:solidFill>
                          <a:latin typeface="Plus Jakarta Sans"/>
                        </a:rPr>
                        <a:t>My Profile &amp; CV Studio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Structured profile builder and CV parser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1628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71711"/>
                          </a:solidFill>
                          <a:latin typeface="Plus Jakarta Sans"/>
                        </a:rPr>
                        <a:t>2. AI-Trend Signal Layer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6E49"/>
                          </a:solidFill>
                          <a:latin typeface="Plus Jakarta Sans"/>
                        </a:rPr>
                        <a:t>Source Evidence Tab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Updatable JSON/API feeds with source dates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1628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71711"/>
                          </a:solidFill>
                          <a:latin typeface="Plus Jakarta Sans"/>
                        </a:rPr>
                        <a:t>3. Future-Role Matching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6E49"/>
                          </a:solidFill>
                          <a:latin typeface="Plus Jakarta Sans"/>
                        </a:rPr>
                        <a:t>Explore Skills &amp; Roles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Explainable match % and skill-gap breakdown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1628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71711"/>
                          </a:solidFill>
                          <a:latin typeface="Plus Jakarta Sans"/>
                        </a:rPr>
                        <a:t>4. Reskilling Pathway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6E49"/>
                          </a:solidFill>
                          <a:latin typeface="Plus Jakarta Sans"/>
                        </a:rPr>
                        <a:t>Career Demo Planner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Time-estimated free &amp; HRD Corp courses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1628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71711"/>
                          </a:solidFill>
                          <a:latin typeface="Plus Jakarta Sans"/>
                        </a:rPr>
                        <a:t>5. UN SDG Mapping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6E49"/>
                          </a:solidFill>
                          <a:latin typeface="Plus Jakarta Sans"/>
                        </a:rPr>
                        <a:t>Direction &amp; Impact Tags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Every skill and role mapped to SDGs 4, 5, 8, 9, 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1632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71711"/>
                          </a:solidFill>
                          <a:latin typeface="Plus Jakarta Sans"/>
                        </a:rPr>
                        <a:t>6. Handling Uncertainty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6E49"/>
                          </a:solidFill>
                          <a:latin typeface="Plus Jakarta Sans"/>
                        </a:rPr>
                        <a:t>My Skills Outlook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Moderate vs Fast AI disruption scenario toggles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6E49"/>
                </a:solidFill>
                <a:latin typeface="JetBrains Mono"/>
              </a:rPr>
              <a:t>06 · PROBLEM-SOLUTION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71711"/>
                </a:solidFill>
                <a:latin typeface="Plus Jakarta Sans"/>
              </a:rPr>
              <a:t>Complete Coverage of Domain 1 Must-Have Features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3033712"/>
            <a:ext cx="3505200" cy="169545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3033712"/>
            <a:ext cx="3505200" cy="169545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3033712"/>
            <a:ext cx="3505200" cy="169545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6E49"/>
                </a:solidFill>
                <a:latin typeface="JetBrains Mono"/>
              </a:rPr>
              <a:t>07 · SUSTAINABILITY BY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71711"/>
                </a:solidFill>
                <a:latin typeface="Plus Jakarta Sans"/>
              </a:rPr>
              <a:t>Connecting Every Career Move to the UN SDGs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338512"/>
            <a:ext cx="3714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C2626"/>
                </a:solidFill>
                <a:latin typeface="JetBrains Mono"/>
              </a:rPr>
              <a:t>SDG 4 · MAIN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605212"/>
            <a:ext cx="390048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71711"/>
                </a:solidFill>
                <a:latin typeface="Plus Jakarta Sans"/>
              </a:rPr>
              <a:t>Quality Education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986212"/>
            <a:ext cx="30670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Accessible lifelong technical reskilling pathways.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0100" y="3338512"/>
            <a:ext cx="3714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6E49"/>
                </a:solidFill>
                <a:latin typeface="JetBrains Mono"/>
              </a:rPr>
              <a:t>SDG 8 · TARGET 8.5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605212"/>
            <a:ext cx="390048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71711"/>
                </a:solidFill>
                <a:latin typeface="Plus Jakarta Sans"/>
              </a:rPr>
              <a:t>Decent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3986212"/>
            <a:ext cx="30670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Productive employment resilient against automation.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338512"/>
            <a:ext cx="3714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97706"/>
                </a:solidFill>
                <a:latin typeface="JetBrains Mono"/>
              </a:rPr>
              <a:t>SDG 9 &amp; SDG 5 /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3605212"/>
            <a:ext cx="38481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71711"/>
                </a:solidFill>
                <a:latin typeface="Plus Jakarta Sans"/>
              </a:rPr>
              <a:t>Inclusive Innovation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3986212"/>
            <a:ext cx="30670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Bias-checked recommendations reducing workforce inequality.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2519362"/>
            <a:ext cx="5257800" cy="2724150"/>
          </a:xfrm>
          <a:prstGeom prst="roundRect">
            <a:avLst>
              <a:gd name="adj" fmla="val 5594"/>
            </a:avLst>
          </a:prstGeom>
          <a:solidFill>
            <a:srgbClr val="F4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4600" y="2519362"/>
            <a:ext cx="5257800" cy="2724150"/>
          </a:xfrm>
          <a:prstGeom prst="roundRect">
            <a:avLst>
              <a:gd name="adj" fmla="val 5594"/>
            </a:avLst>
          </a:prstGeom>
          <a:solidFill>
            <a:srgbClr val="07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6E49"/>
                </a:solidFill>
                <a:latin typeface="JetBrains Mono"/>
              </a:rPr>
              <a:t>08 · FEASIBILITY &amp; AI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71711"/>
                </a:solidFill>
                <a:latin typeface="Plus Jakarta Sans"/>
              </a:rPr>
              <a:t>Engineering Trustworthy, Hallucination-Free Guidance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2862262"/>
            <a:ext cx="5715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5309"/>
                </a:solidFill>
                <a:latin typeface="JetBrains Mono"/>
              </a:rPr>
              <a:t>HARDEST TECHNICAL 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0" y="2862262"/>
            <a:ext cx="5524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4D399"/>
                </a:solidFill>
                <a:latin typeface="JetBrains Mono"/>
              </a:rPr>
              <a:t>PATHWAAY ARCHITECTURE FALLBACKS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148012"/>
            <a:ext cx="4667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LLM Hallucinations:</a:t>
            </a:r>
            <a:r>
              <a:rPr b="0" sz="1425" i="0" u="none">
                <a:solidFill>
                  <a:srgbClr val="1E293B"/>
                </a:solidFill>
                <a:latin typeface="Plus Jakarta Sans"/>
              </a:rPr>
              <a:t> Unconstrained models invent fake courses or job statistics.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795712"/>
            <a:ext cx="4667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Stale Trend Feeds:</a:t>
            </a:r>
            <a:r>
              <a:rPr b="0" sz="1425" i="0" u="none">
                <a:solidFill>
                  <a:srgbClr val="1E293B"/>
                </a:solidFill>
                <a:latin typeface="Plus Jakarta Sans"/>
              </a:rPr>
              <a:t> External job APIs can rate-limit or change schema.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443412"/>
            <a:ext cx="4667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Privacy Exposure:</a:t>
            </a:r>
            <a:r>
              <a:rPr b="0" sz="1425" i="0" u="none">
                <a:solidFill>
                  <a:srgbClr val="1E293B"/>
                </a:solidFill>
                <a:latin typeface="Plus Jakarta Sans"/>
              </a:rPr>
              <a:t> Uploading personal CVs risks leaking sensitive PII.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0" y="3148012"/>
            <a:ext cx="4667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E2E8F0"/>
                </a:solidFill>
                <a:latin typeface="Plus Jakarta Sans"/>
              </a:rPr>
              <a:t>Grounded Evidence Graph:</a:t>
            </a:r>
            <a:r>
              <a:rPr b="0" sz="1425" i="0" u="none">
                <a:solidFill>
                  <a:srgbClr val="E2E8F0"/>
                </a:solidFill>
                <a:latin typeface="Plus Jakarta Sans"/>
              </a:rPr>
              <a:t> Recommendations strictly cite verified catalog IDs.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0" y="3795712"/>
            <a:ext cx="4667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E2E8F0"/>
                </a:solidFill>
                <a:latin typeface="Plus Jakarta Sans"/>
              </a:rPr>
              <a:t>Snapshot Fallback Cache:</a:t>
            </a:r>
            <a:r>
              <a:rPr b="0" sz="1425" i="0" u="none">
                <a:solidFill>
                  <a:srgbClr val="E2E8F0"/>
                </a:solidFill>
                <a:latin typeface="Plus Jakarta Sans"/>
              </a:rPr>
              <a:t> Validated local trend snapshots guarantee live demo uptime.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0" y="4443412"/>
            <a:ext cx="4667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E2E8F0"/>
                </a:solidFill>
                <a:latin typeface="Plus Jakarta Sans"/>
              </a:rPr>
              <a:t>Browser Session Sandbox:</a:t>
            </a:r>
            <a:r>
              <a:rPr b="0" sz="1425" i="0" u="none">
                <a:solidFill>
                  <a:srgbClr val="E2E8F0"/>
                </a:solidFill>
                <a:latin typeface="Plus Jakarta Sans"/>
              </a:rPr>
              <a:t> Synthetic profiles run locally in-tab without DB persistence.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29300" y="1467891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1E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86175" y="4809083"/>
            <a:ext cx="4819650" cy="581025"/>
          </a:xfrm>
          <a:prstGeom prst="roundRect">
            <a:avLst>
              <a:gd name="adj" fmla="val 19672"/>
            </a:avLst>
          </a:prstGeom>
          <a:solidFill>
            <a:srgbClr val="0B261C"/>
          </a:solidFill>
          <a:ln w="9525">
            <a:solidFill>
              <a:srgbClr val="1E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86425" y="1467891"/>
            <a:ext cx="8191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2100" i="0" u="none">
                <a:solidFill>
                  <a:srgbClr val="FFFFFF"/>
                </a:solidFill>
                <a:latin typeface="Plus Jakarta Sans"/>
              </a:rPr>
              <a:t>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58257" y="2229891"/>
            <a:ext cx="3875484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34D399"/>
                </a:solidFill>
                <a:latin typeface="JetBrains Mono"/>
              </a:rPr>
              <a:t>PATHWAAY · LIVE PROTOTYPE 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0359" y="2572791"/>
            <a:ext cx="10251281" cy="1226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b="1" sz="4200" i="0" u="none">
                <a:solidFill>
                  <a:srgbClr val="FFFFFF"/>
                </a:solidFill>
                <a:latin typeface="Plus Jakarta Sans"/>
              </a:rPr>
              <a:t>Empowering Human Career Decisions in the AI Era.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7875" y="3989933"/>
            <a:ext cx="8096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CBD5E1"/>
                </a:solidFill>
                <a:latin typeface="Plus Jakarta Sans"/>
              </a:rPr>
              <a:t>From profile intake to source-cited future roles and SDG reskilling pathways in minutes.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6625" y="4990058"/>
            <a:ext cx="5238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A7F3D0"/>
                </a:solidFill>
                <a:latin typeface="JetBrains Mono"/>
              </a:rPr>
              <a:t>github.com/weiiilunnnn/3am-sdc-hackathon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